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6052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ISLR / Business Analytics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Socioeconomic Factors Drive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Cat vs. Dog Preferences Across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Taipei City’s 12 Districts?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Data: 12 Districts × 10 Years = 120 Observations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 OLS + Lasso/RF + K-means Clustering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Report · 2026-04-05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 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RQ: In Taipei City’s 12 districts, what socioeconomic factors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whether residents prefer cats or dogs?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RQ-1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2286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IVs significantly explain within-district variation?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OLS (Theory-driven)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73152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RQ-2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6304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data-driven methods confirm theory-driven results?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3063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+ RF (Data-driven)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73152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RQ-3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63040" y="3840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pet market segments exist? What business fits each?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(Application)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Supervised Regression (RQ-1,2) + Unsupervised Clustering (RQ-3)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 Data Collection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districts × 10 years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651760" y="91440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914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651760" y="1371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1600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panel-compatible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914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1371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600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panel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914400"/>
            <a:ext cx="1920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914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0" y="1371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1600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 collection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Variable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DV: cat_dog_ratio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pet.gov.tw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API (O302)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IV_highrise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 Real Estate Registry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 download + parse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IV3_single_ratio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 ODRP019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IV_elder (65+)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data.taipei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IV4_rental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 Real Estate Registry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 download + parse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IV_edu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data.taipei / SEGIS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(1) Cat registration pre-2016 = voluntary  (2) Real estate registry ≠ full stock  (3) Migration data dropped (only 2020–2024 available)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 Literature Review &amp; Research Gap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4864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IV_highrise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94560" y="960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紀青青(2018), HDB policy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0" y="960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 rules restrict dogs in high-rises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864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IV3_single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1463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Wu(2024), Applebaum(2020), 李俞萱(2022)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living → prefer independent pets (cats)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54864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965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IV_elder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彭煤哲(2015), Jaroenkornburi(2024)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→ companionship walking → dogs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54864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468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IV4_rental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2468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Applebaum(2021)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0" y="2468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restrictions → low-disturbance pets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54864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971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IV_edu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2971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Jaroenkornburi(2024)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lifestyle + petfluencer culture → cats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(10 papers reviewed)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Prior Literature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This Study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Cross-sectional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(12×10)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Administrative records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(own/not)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/ 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Sub-city district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/ descriptive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 + Lasso/RF + K-means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 Exploratory Data Analysis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visualizations · 5 IVs + 1 DV · 120 observations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4.1 Target Variable: Cat-Dog Ratio Trend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districts show upward trend; by 2024, 10/12 districts have ratio &gt; 1.0 (more cats than dogs)</a:t>
            </a:r>
            <a:endParaRPr lang="en-US" sz="1100" dirty="0"/>
          </a:p>
        </p:txBody>
      </p:sp>
      <p:pic>
        <p:nvPicPr>
          <p:cNvPr id="4" name="Image 0" descr="/mnt/user-data/outputs/eda_1_timese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4.2 Variable Distributions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IV4_rental log-transformed (skew 1.56 → −0.32). IV_highrise, IV_elder, IV_edu pass normality test.</a:t>
            </a:r>
            <a:endParaRPr lang="en-US" sz="1100" dirty="0"/>
          </a:p>
        </p:txBody>
      </p:sp>
      <p:pic>
        <p:nvPicPr>
          <p:cNvPr id="4" name="Image 0" descr="/mnt/user-data/outputs/eda_2_distribu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60120"/>
            <a:ext cx="87782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4.3 Bivariate Analysis + Correlation Matrix</a:t>
            </a:r>
            <a:endParaRPr lang="en-US" sz="2000" dirty="0"/>
          </a:p>
        </p:txBody>
      </p:sp>
      <p:pic>
        <p:nvPicPr>
          <p:cNvPr id="3" name="Image 0" descr="/mnt/user-data/outputs/eda_3_scatter_iv_vs_d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640080"/>
            <a:ext cx="8778240" cy="2011680"/>
          </a:xfrm>
          <a:prstGeom prst="rect">
            <a:avLst/>
          </a:prstGeom>
        </p:spPr>
      </p:pic>
      <p:pic>
        <p:nvPicPr>
          <p:cNvPr id="4" name="Image 1" descr="/mnt/user-data/outputs/eda_4_correlation_heat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286000" y="2606040"/>
            <a:ext cx="45720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4.4 Key Finding: The Elder Ratio Paradox</a:t>
            </a:r>
            <a:endParaRPr lang="en-US" sz="2000" dirty="0"/>
          </a:p>
        </p:txBody>
      </p:sp>
      <p:pic>
        <p:nvPicPr>
          <p:cNvPr id="4" name="Image 0" descr="/mnt/user-data/outputs/eda_6_elder_parad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777240"/>
            <a:ext cx="859536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60520"/>
            <a:ext cx="8229600" cy="868680"/>
          </a:xfrm>
          <a:prstGeom prst="rect">
            <a:avLst/>
          </a:prstGeom>
          <a:solidFill>
            <a:srgbClr val="FEF2F2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20624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between-district r = +0.72 (opposite to hypothesis).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Elderly-heavy districts are also old urban cores with characteristics that independently drive higher cat-dog ratios. FE controls for this confounding — the core justification for panel FE over pooled OLS.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4.5 District Profiles (K-means Preview)</a:t>
            </a:r>
            <a:endParaRPr lang="en-US" sz="2000" dirty="0"/>
          </a:p>
        </p:txBody>
      </p:sp>
      <p:pic>
        <p:nvPicPr>
          <p:cNvPr id="3" name="Image 0" descr="/mnt/user-data/outputs/eda_5_radar_prof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640080"/>
            <a:ext cx="82296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5. Proposed Solution Strategy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38404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73152" cy="1234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1051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 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Theory-driven hypothesis testing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0.962 (preliminary)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8404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005840"/>
            <a:ext cx="73152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1051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LassoCV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417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feature validation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by district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468880"/>
            <a:ext cx="38404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468880"/>
            <a:ext cx="73152" cy="12344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514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37360" y="2514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Importance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28803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Nonlinear exploration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(30 rep)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468880"/>
            <a:ext cx="38404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2468880"/>
            <a:ext cx="73152" cy="1234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2514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0" y="2514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83480" y="28803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segmentation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market types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69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cat_dog_ratioᵢₜ = αᵢ + γₜ + β₁·highrise + β₂·single + β₃·elder + β₄·log(rental) + β₅·edu + εᵢₜ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clustered by district · Robust HC1 for heteroscedasticity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5.2 Feature Engineering: Collinearity Screening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candidates screened to 5 IVs. Each exclusion has a specific rationale.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73152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Retained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Dropped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|r|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Why dropped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highrise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can’t distinguish townhouse vs apartment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highrise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townhouse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types sum to 100% = perfect collinearity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highrise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is consequence of type, not cause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HH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Mathematical inverse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 causality concern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elder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death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by medical resources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log(rental)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price/sqm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≈0.78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mechanism indirect; rental has direct literature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female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&lt; 1% across districts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5.3 Evaluation &amp;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OLS: R², Adj R², robust SE (HC1), DW, residual normality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LassoCV: GroupKFold CV score, retained vs dropped variables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RF: Permutation importance (30 repeats), consensus ranking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check: skew=−0.18, KS p=0.42 (pass), DW=1.96 (no autocorrelation)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Anticipated Challenges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 (120 obs) — Lasso/RF results are exploratory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IV_elder direction paradox — FE demeaning may reveal true effect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IV_edu slow within-district variation — may be absorbed by FE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kurtosis (1.55) — mitigated by robust SE + CLT at N=120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6177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Run full pipeline → FE + Lasso + RF → K-means segmentation map → Business recommendations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Report - Cat-Dog Ratio Panel Analysis</dc:title>
  <dc:subject>PptxGenJS Presentation</dc:subject>
  <dc:creator>Danni</dc:creator>
  <cp:lastModifiedBy>Danni</cp:lastModifiedBy>
  <cp:revision>1</cp:revision>
  <dcterms:created xsi:type="dcterms:W3CDTF">2026-04-05T12:01:29Z</dcterms:created>
  <dcterms:modified xsi:type="dcterms:W3CDTF">2026-04-05T12:01:29Z</dcterms:modified>
</cp:coreProperties>
</file>