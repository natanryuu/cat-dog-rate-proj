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hBLP5658RprPhHhKPxA0vt3n7Q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13BCAB-FBFC-4C63-9CA5-524C718ACC5A}">
  <a:tblStyle styleId="{3213BCAB-FBFC-4C63-9CA5-524C718ACC5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C0392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090B0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9090B0"/>
                </a:solidFill>
                <a:latin typeface="Consolas"/>
                <a:ea typeface="Consolas"/>
                <a:cs typeface="Consolas"/>
                <a:sym typeface="Consolas"/>
              </a:rPr>
              <a:t>商業分析實務-MIS985 </a:t>
            </a:r>
            <a:r>
              <a:rPr b="0" i="0" lang="en-US" sz="1100" u="none" cap="none" strike="noStrike">
                <a:solidFill>
                  <a:srgbClr val="9090B0"/>
                </a:solidFill>
                <a:latin typeface="Consolas"/>
                <a:ea typeface="Consolas"/>
                <a:cs typeface="Consolas"/>
                <a:sym typeface="Consolas"/>
              </a:rPr>
              <a:t>期中專案報告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31520" y="1463040"/>
            <a:ext cx="6858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台北市貓犬比的區級異質性與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87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8877E"/>
                </a:solidFill>
                <a:latin typeface="Calibri"/>
                <a:ea typeface="Calibri"/>
                <a:cs typeface="Calibri"/>
                <a:sym typeface="Calibri"/>
              </a:rPr>
              <a:t>社經驅動因素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 Data 分析（2015–2025）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3840480"/>
            <a:ext cx="2377440" cy="32004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" y="3840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N = 132（12區 × 11年）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91840" y="3840480"/>
            <a:ext cx="2377440" cy="32004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3291840" y="3840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5 IVs · 0 缺值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852160" y="3840480"/>
            <a:ext cx="2377440" cy="320040"/>
          </a:xfrm>
          <a:prstGeom prst="rect">
            <a:avLst/>
          </a:prstGeom>
          <a:solidFill>
            <a:srgbClr val="FFFFFF">
              <a:alpha val="12156"/>
            </a:srgbClr>
          </a:solidFill>
          <a:ln cap="flat" cmpd="sng" w="9525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852160" y="38404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FE OLS + Lasso/RF + K-means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070A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070A0"/>
                </a:solidFill>
                <a:latin typeface="Calibri"/>
                <a:ea typeface="Calibri"/>
                <a:cs typeface="Calibri"/>
                <a:sym typeface="Calibri"/>
              </a:rPr>
              <a:t>2026-04-05 ｜ 中山大學</a:t>
            </a:r>
            <a:r>
              <a:rPr lang="en-US" sz="1000">
                <a:solidFill>
                  <a:srgbClr val="7070A0"/>
                </a:solidFill>
                <a:latin typeface="Calibri"/>
                <a:ea typeface="Calibri"/>
                <a:cs typeface="Calibri"/>
                <a:sym typeface="Calibri"/>
              </a:rPr>
              <a:t>資管系</a:t>
            </a:r>
            <a:endParaRPr sz="1000">
              <a:solidFill>
                <a:srgbClr val="707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研究問題定義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FDF0EF"/>
          </a:solidFill>
          <a:ln cap="flat" cmpd="sng" w="952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868680"/>
            <a:ext cx="54864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5800" y="89611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RESEARCH QUESTION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85800" y="1115568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D3D5C"/>
                </a:solidFill>
                <a:latin typeface="Calibri"/>
                <a:ea typeface="Calibri"/>
                <a:cs typeface="Calibri"/>
                <a:sym typeface="Calibri"/>
              </a:rPr>
              <a:t>在台北市 12 個行政區中，什麼社經結構因素決定了各區居民偏好養貓還是養狗？這些發現如何轉化為寵物產業的選址與行銷決策？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9659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研究背景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D3D5C"/>
                </a:solidFill>
                <a:latin typeface="Calibri"/>
                <a:ea typeface="Calibri"/>
                <a:cs typeface="Calibri"/>
                <a:sym typeface="Calibri"/>
              </a:rPr>
              <a:t>2021 年台灣新增貓隻登記數首度超越犬隻，但全國趨勢掩蓋了顯著的區域差異。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D3D5C"/>
                </a:solidFill>
                <a:latin typeface="Calibri"/>
                <a:ea typeface="Calibri"/>
                <a:cs typeface="Calibri"/>
                <a:sym typeface="Calibri"/>
              </a:rPr>
              <a:t>台北 12 區貓犬比從 0.46 到 2.97（差距 6.4 倍），不能以「都喜歡貓」解釋。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D3D5C"/>
                </a:solidFill>
                <a:latin typeface="Calibri"/>
                <a:ea typeface="Calibri"/>
                <a:cs typeface="Calibri"/>
                <a:sym typeface="Calibri"/>
              </a:rPr>
              <a:t>台北 2016 年起強制貓登記（比全國早 8 年），行政資料完整性高。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3520440"/>
            <a:ext cx="1828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57200" y="35204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監督式回歸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468880" y="3520440"/>
            <a:ext cx="1828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2468880" y="35204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非監督分群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480560" y="3520440"/>
            <a:ext cx="1828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480560" y="35204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Panel Data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492240" y="3520440"/>
            <a:ext cx="1828800" cy="29260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92240" y="352044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目標：解釋性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40080" y="4069080"/>
            <a:ext cx="7863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商業價值：要在台北開貓咪旅館，應該選大安區還是北投區？推廣高端寵物食品，哪些區的居民結構最匹配？答案取決於各區的社經結構差異。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變數設計與假設方向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" name="Google Shape;60;p3"/>
          <p:cNvGraphicFramePr/>
          <p:nvPr/>
        </p:nvGraphicFramePr>
        <p:xfrm>
          <a:off x="45720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{3213BCAB-FBFC-4C63-9CA5-524C718ACC5A}</a:tableStyleId>
              </a:tblPr>
              <a:tblGrid>
                <a:gridCol w="731525"/>
                <a:gridCol w="2926075"/>
                <a:gridCol w="731525"/>
                <a:gridCol w="384047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角色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變數名稱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假設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理論依據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onsola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Y (DV)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cat_dog_ratio（貓犬登記比）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寵物選擇偏好的行政資料代理指標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onsola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X₁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IV_highrise（高樓比）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↑→Y↑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管委會規約限制犬隻；貓不受限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onsola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X₂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IV3_single_ratio（單人戶比）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↑→Y↑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獨居→空間小、外出長→貓的獨立性適合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onsola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X₃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IV_elder（65歲以上比）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↑→Y↓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退休→陪伴散步需求→偏好養狗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onsola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X₄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log(IV4_rental)（租賃活躍度）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↑→Y↑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租屋限制→租客選「低干擾」寵物（貓）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50"/>
                        <a:buFont typeface="Consolas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X₅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IV_edu（大專以上學歷比）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↑→Y↑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高教育→都會生活型態→養貓文化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1" name="Google Shape;61;p3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E8E6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6B6B8A"/>
                </a:solidFill>
                <a:latin typeface="Consolas"/>
                <a:ea typeface="Consolas"/>
                <a:cs typeface="Consolas"/>
                <a:sym typeface="Consolas"/>
              </a:rPr>
              <a:t>FE 模型方程式：cat_dog_ratio_it = αᵢ + γₜ + β₁·highrise + β₂·single + β₃·elder + β₄·log(rental) + β₅·edu + εᵢₜ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資料收集：5 個政府開放資料 × 9 支 Python 腳本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1" name="Google Shape;71;p4"/>
          <p:cNvGraphicFramePr/>
          <p:nvPr/>
        </p:nvGraphicFramePr>
        <p:xfrm>
          <a:off x="45720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{3213BCAB-FBFC-4C63-9CA5-524C718ACC5A}</a:tableStyleId>
              </a:tblPr>
              <a:tblGrid>
                <a:gridCol w="1828800"/>
                <a:gridCol w="2286000"/>
                <a:gridCol w="1645925"/>
                <a:gridCol w="24688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變數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來源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方式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腳本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DV 貓犬登記比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農業部 pet.gov.tw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API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petgov scraper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IV₁ 高樓比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內政部實價登錄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ZIP 批次下載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download_and_process_plvr.py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IV₂ 單人戶比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內政部戶政司 ODRP019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 API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fetch_odrp019.py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IV₃ 65歲以上比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data.taipei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 API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age fetcher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IV₄ 租賃活躍度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內政部實價登錄（租賃）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ZIP 批次下載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download_and_process_plvr.py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IV₅ 大專以上學歷比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data.taipei / SEGIS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 API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onsolas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collect_tier1_vars.py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2" name="Google Shape;72;p4"/>
          <p:cNvSpPr/>
          <p:nvPr/>
        </p:nvSpPr>
        <p:spPr>
          <a:xfrm>
            <a:off x="457200" y="3429000"/>
            <a:ext cx="1572768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457200" y="34564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132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57200" y="388620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總觀測值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2121408" y="3429000"/>
            <a:ext cx="1572768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2121408" y="34564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121408" y="388620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行政區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785616" y="3429000"/>
            <a:ext cx="1572768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785616" y="34564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785616" y="388620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年(2015–2025)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49824" y="3429000"/>
            <a:ext cx="1572768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5449824" y="34564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49824" y="388620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Python 腳本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7114032" y="3429000"/>
            <a:ext cx="1572768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7114032" y="3456432"/>
            <a:ext cx="15727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114032" y="3886200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缺值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資料限制：貓登記 2015 年為自願制（可能低估）| 實價登錄租賃約 30-40% 未申報 | IV_mig 因資料不足(72/132)已刪除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變數演化：從 v5 到 v7 的調整歷程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57200" y="86868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57200" y="868680"/>
            <a:ext cx="265176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48640" y="1005840"/>
            <a:ext cx="548640" cy="201168"/>
          </a:xfrm>
          <a:prstGeom prst="rect">
            <a:avLst/>
          </a:prstGeom>
          <a:solidFill>
            <a:srgbClr val="FDF0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548640" y="10058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取代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48640" y="12801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IV₁ 坪數 → 高樓比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548640" y="164592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坪數無法區分透天 vs 大樓；高樓比捕捉管委會限狗的制度機制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246120" y="86868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3246120" y="868680"/>
            <a:ext cx="265176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3337560" y="1005840"/>
            <a:ext cx="548640" cy="201168"/>
          </a:xfrm>
          <a:prstGeom prst="rect">
            <a:avLst/>
          </a:prstGeom>
          <a:solidFill>
            <a:srgbClr val="FDF0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3337560" y="10058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取代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3337560" y="12801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IV₂ 幼兒比 → 65+比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3337560" y="164592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幼兒比與單人戶比 within r=-0.988（VIF≈48）；改用測量不同世代機制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035040" y="86868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035040" y="868680"/>
            <a:ext cx="2651760" cy="36576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6126480" y="1005840"/>
            <a:ext cx="548640" cy="2011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6126480" y="10058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166534"/>
                </a:solidFill>
                <a:latin typeface="Consolas"/>
                <a:ea typeface="Consolas"/>
                <a:cs typeface="Consolas"/>
                <a:sym typeface="Consolas"/>
              </a:rPr>
              <a:t>新增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6126480" y="128016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IV₅ 大專以上學歷比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126480" y="164592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都會生活型態代理指標；各區差異大（大安67% vs 萬華38%）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457200" y="278892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57200" y="2788920"/>
            <a:ext cx="2651760" cy="36576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548640" y="2926080"/>
            <a:ext cx="548640" cy="201168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548640" y="292608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54D0E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854D0E"/>
                </a:solidFill>
                <a:latin typeface="Consolas"/>
                <a:ea typeface="Consolas"/>
                <a:cs typeface="Consolas"/>
                <a:sym typeface="Consolas"/>
              </a:rPr>
              <a:t>刪除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IV_mig 淨遷移率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48640" y="356616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data.taipei 僅 2020-2025（72/132），無法構成完整 panel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246120" y="278892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246120" y="2788920"/>
            <a:ext cx="265176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337560" y="2926080"/>
            <a:ext cx="548640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3337560" y="292608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保留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337560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IV₃ 單人戶比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337560" y="356616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文獻支撐最強（3 篇交叉驗證）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6035040" y="2788920"/>
            <a:ext cx="2651760" cy="1691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035040" y="2788920"/>
            <a:ext cx="2651760" cy="3657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6126480" y="2926080"/>
            <a:ext cx="548640" cy="201168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6126480" y="292608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1D4ED8"/>
                </a:solidFill>
                <a:latin typeface="Consolas"/>
                <a:ea typeface="Consolas"/>
                <a:cs typeface="Consolas"/>
                <a:sym typeface="Consolas"/>
              </a:rPr>
              <a:t>加log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126480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IV₄ 租賃活躍度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6126480" y="3566160"/>
            <a:ext cx="2468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原始 skew=1.563 → log 後 -0.321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文獻回顧：每個 IV 的理論依據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6"/>
          <p:cNvGraphicFramePr/>
          <p:nvPr/>
        </p:nvGraphicFramePr>
        <p:xfrm>
          <a:off x="45720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{3213BCAB-FBFC-4C63-9CA5-524C718ACC5A}</a:tableStyleId>
              </a:tblPr>
              <a:tblGrid>
                <a:gridCol w="1371600"/>
                <a:gridCol w="2286000"/>
                <a:gridCol w="45720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對應 IV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文獻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主要發現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理論框架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Jaroenkornburi (2024)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Changbencharong (2014)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都市化→家庭縮小→pet humanization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petfluencer 文化加速養貓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IV₁ 高樓比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Wu et al. (2024)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紀青青 (2018)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空間限制影響犬貓選擇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管委會限狗制度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IV₂ 單人戶比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Applebaum (2020)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李俞萱 (2022)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獨居年輕人養貓比例高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單身族群養寵物需求高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IV₃ 65+比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彭煜哲 (2015)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楊子妍 (2024)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退休→陪伴散步→養狗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家庭生命週期影響飼養行為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IV₄ 租賃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Applebaum et al. (2021)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租屋費與限制→租客選貓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392B"/>
                        </a:buClr>
                        <a:buSzPts val="1000"/>
                        <a:buFont typeface="Consolas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C0392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方法論</a:t>
                      </a:r>
                      <a:endParaRPr sz="1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Webb et al. (1966)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行政紀錄作為行為痕跡指標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全部 10 篇：截面設計 × 問卷調查 × 個人/國家層級 → 本研究填補 Panel + 行政資料 + 區級 的文獻缺口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研究定位：五個文獻缺口的填補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274320" y="10058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研究設計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74320" y="1463040"/>
            <a:ext cx="1645920" cy="10058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274320" y="15087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既有文獻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47472" y="1737360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全部為截面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74320" y="24871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274320" y="2788920"/>
            <a:ext cx="1645920" cy="118872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274320" y="28346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本研究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47472" y="3063240"/>
            <a:ext cx="14996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Panel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12×11 = 132 obs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011680" y="1005840"/>
            <a:ext cx="16459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2011680" y="10058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資料類型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011680" y="1463040"/>
            <a:ext cx="1645920" cy="10058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011680" y="15087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既有文獻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2084832" y="1737360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問卷調查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011680" y="24871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011680" y="2788920"/>
            <a:ext cx="1645920" cy="118872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2011680" y="28346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本研究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084832" y="3063240"/>
            <a:ext cx="14996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行政登記資料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（非介入式）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3749040" y="1005840"/>
            <a:ext cx="16459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749040" y="10058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依變數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749040" y="1463040"/>
            <a:ext cx="1645920" cy="10058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3749040" y="15087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既有文獻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822192" y="1737360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二元（養/不養）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749040" y="24871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749040" y="2788920"/>
            <a:ext cx="1645920" cy="118872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3749040" y="28346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本研究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822192" y="3063240"/>
            <a:ext cx="14996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連續型比值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（cat/dog ratio）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486400" y="1005840"/>
            <a:ext cx="16459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5486400" y="10058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分析單位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5486400" y="1463040"/>
            <a:ext cx="1645920" cy="10058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5486400" y="15087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既有文獻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5559552" y="1737360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個人或國家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86400" y="24871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486400" y="2788920"/>
            <a:ext cx="1645920" cy="118872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5486400" y="28346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本研究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5559552" y="3063240"/>
            <a:ext cx="14996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Sub-city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行政區級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7223760" y="1005840"/>
            <a:ext cx="1645920" cy="3474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7223760" y="1005840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方法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7223760" y="1463040"/>
            <a:ext cx="1645920" cy="10058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7223760" y="15087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C0392B"/>
                </a:solidFill>
                <a:latin typeface="Consolas"/>
                <a:ea typeface="Consolas"/>
                <a:cs typeface="Consolas"/>
                <a:sym typeface="Consolas"/>
              </a:rPr>
              <a:t>既有文獻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296912" y="1737360"/>
            <a:ext cx="149961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OLS / 描述性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223760" y="24871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7223760" y="2788920"/>
            <a:ext cx="1645920" cy="118872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7223760" y="28346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本研究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296912" y="3063240"/>
            <a:ext cx="149961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FE OLS + Lasso/RF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+ K-means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Webb et al. (1966)：利用行政紀錄作為行為痕跡指標（Unobtrusive Measures），避免問卷的反應性偏誤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EDA — 12 區貓犬比趨勢（2015–2025）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60"/>
            <a:ext cx="8229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Fig 1 — 2020 年後加速明顯（COVID-19 居家效應）。2025 年全部 12 區 ratio &gt; 1.0。大同區上升最快，北投區始終最低。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EDA — 各變數分佈：常態性診斷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77240"/>
            <a:ext cx="868680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IV_highrise、IV_elder、IV_edu 通過 SW 常態檢定 (p &gt; .05)  |  IV4_rental 原始 skew=1.56，log 轉換後降至 -0.32  |  IV3_single 輕微右偏 (0.62) 可接受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EDA — 雙變量分析 + 相關矩陣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1" name="Google Shape;2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77240"/>
            <a:ext cx="54864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2" name="Google Shape;2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777240"/>
            <a:ext cx="3200400" cy="280720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0"/>
          <p:cNvSpPr/>
          <p:nvPr/>
        </p:nvSpPr>
        <p:spPr>
          <a:xfrm>
            <a:off x="457200" y="2331720"/>
            <a:ext cx="5029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IV_elder raw r = +0.723：方向與假說（−）相反 → MISMATCH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D3D5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3D3D5C"/>
                </a:solidFill>
                <a:latin typeface="Calibri"/>
                <a:ea typeface="Calibri"/>
                <a:cs typeface="Calibri"/>
                <a:sym typeface="Calibri"/>
              </a:rPr>
              <a:t>IV_highrise r = +0.557、IV3_single r = +0.490：方向正確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 IVs 之間 |r| 均 &lt; 0.7 → 無高度共線性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Fig 3 (左) — 各 IV vs DV 散佈圖。Fig 4 (右) — DV + 5 IVs 相關矩陣。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關鍵發現：IV_elder 方向悖論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4" name="Google Shape;24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77240"/>
            <a:ext cx="8686800" cy="2834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1"/>
          <p:cNvSpPr/>
          <p:nvPr/>
        </p:nvSpPr>
        <p:spPr>
          <a:xfrm>
            <a:off x="457200" y="3703320"/>
            <a:ext cx="3931920" cy="100584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594360" y="373075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悖論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65+比↑ 理論上→養狗↑→貓犬比↓，但 raw between-district r = +0.72（正向）。原因：老齡化高的區同時是舊城區（小坪數、高租賃），第三變數混淆。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4663440" y="3703320"/>
            <a:ext cx="3931920" cy="100584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4800600" y="3730752"/>
            <a:ext cx="3657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解法：FE 固定效果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αᵢ 吸收 time-invariant 區級特徵，只估 within-district 時間變化。FE demeaned 後 r = +0.963。這是使用 Panel FE 而非 Pooled OLS 的核心理由。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區域側寫 — K-means 市場分群預覽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731520"/>
            <a:ext cx="6400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>
            <a:off x="6858000" y="914400"/>
            <a:ext cx="2011680" cy="118872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6949440" y="9601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養貓型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大安：高教育、高高樓比、高租賃 → 貓犬比最低（反轉後最高）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858000" y="2286000"/>
            <a:ext cx="2011680" cy="118872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6949440" y="233172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養狗型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北投：高老齡化、低高樓比、有散步空間 → 貓犬比偏低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6858000" y="3657600"/>
            <a:ext cx="2011680" cy="914400"/>
          </a:xfrm>
          <a:prstGeom prst="rect">
            <a:avLst/>
          </a:prstGeom>
          <a:solidFill>
            <a:srgbClr val="DBEAFE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6949440" y="370332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商業應用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K-means 將據此分群，產出 12 區寵物市場區隔地圖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解決策略：四步驟建模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57200" y="960120"/>
            <a:ext cx="192024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457200" y="960120"/>
            <a:ext cx="192024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594360" y="114300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594360" y="11430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48640" y="15087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 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（主模型）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21031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Theory-driven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假說驗證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1005840" y="2697480"/>
            <a:ext cx="822960" cy="228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1005840" y="26974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6B8A"/>
                </a:solidFill>
                <a:latin typeface="Consolas"/>
                <a:ea typeface="Consolas"/>
                <a:cs typeface="Consolas"/>
                <a:sym typeface="Consolas"/>
              </a:rPr>
              <a:t>ISLR Ch.3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2377440" y="16459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2606040" y="960120"/>
            <a:ext cx="192024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2606040" y="960120"/>
            <a:ext cx="19202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2743200" y="1143000"/>
            <a:ext cx="50292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2743200" y="11430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2697480" y="15087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LassoCV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2697480" y="21031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Data-driven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變數篩選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3154680" y="2697480"/>
            <a:ext cx="822960" cy="228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"/>
          <p:cNvSpPr/>
          <p:nvPr/>
        </p:nvSpPr>
        <p:spPr>
          <a:xfrm>
            <a:off x="3154680" y="26974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6B8A"/>
                </a:solidFill>
                <a:latin typeface="Consolas"/>
                <a:ea typeface="Consolas"/>
                <a:cs typeface="Consolas"/>
                <a:sym typeface="Consolas"/>
              </a:rPr>
              <a:t>ISLR Ch.6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526280" y="16459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754880" y="960120"/>
            <a:ext cx="192024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4754880" y="960120"/>
            <a:ext cx="1920240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4892040" y="1143000"/>
            <a:ext cx="502920" cy="2743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>
            <a:off x="4892040" y="11430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846320" y="15087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Random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Forest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4846320" y="21031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非線性探索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Variable Imp.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303520" y="2697480"/>
            <a:ext cx="822960" cy="228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5303520" y="26974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6B8A"/>
                </a:solidFill>
                <a:latin typeface="Consolas"/>
                <a:ea typeface="Consolas"/>
                <a:cs typeface="Consolas"/>
                <a:sym typeface="Consolas"/>
              </a:rPr>
              <a:t>ISLR Ch.8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675120" y="1645920"/>
            <a:ext cx="22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903720" y="960120"/>
            <a:ext cx="192024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903720" y="960120"/>
            <a:ext cx="1920240" cy="4572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7040880" y="1143000"/>
            <a:ext cx="502920" cy="27432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7040880" y="114300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Model 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6995160" y="150876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K-means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6995160" y="210312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寵物市場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區隔地圖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7452360" y="2697480"/>
            <a:ext cx="822960" cy="228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7452360" y="26974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B6B8A"/>
                </a:solidFill>
                <a:latin typeface="Consolas"/>
                <a:ea typeface="Consolas"/>
                <a:cs typeface="Consolas"/>
                <a:sym typeface="Consolas"/>
              </a:rPr>
              <a:t>ISLR Ch.12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57200" y="3383280"/>
            <a:ext cx="822960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594360" y="3429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評估指標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1" name="Google Shape;311;p13"/>
          <p:cNvGraphicFramePr/>
          <p:nvPr/>
        </p:nvGraphicFramePr>
        <p:xfrm>
          <a:off x="594360" y="374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{3213BCAB-FBFC-4C63-9CA5-524C718ACC5A}</a:tableStyleId>
              </a:tblPr>
              <a:tblGrid>
                <a:gridCol w="1097275"/>
                <a:gridCol w="685800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 OLS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R²=0.962  Adj R²=0.951  DW=1.96（無自相關）  Robust SE (HC1)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殘差診斷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skew=−0.181（近對稱）  KS p=0.424（通過）  SW p=0.008（N=132 依賴 CLT）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5F5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Lasso / RF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D5C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u="none" cap="none" strike="noStrike">
                          <a:solidFill>
                            <a:srgbClr val="3D3D5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GroupKFold CV-MSE  |  Permutation Importance（30 次）  |  跨模型 Consensus Ranking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0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4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/>
          <p:nvPr/>
        </p:nvSpPr>
        <p:spPr>
          <a:xfrm>
            <a:off x="6583680" y="137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B8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B6B8A"/>
                </a:solidFill>
                <a:latin typeface="Calibri"/>
                <a:ea typeface="Calibri"/>
                <a:cs typeface="Calibri"/>
                <a:sym typeface="Calibri"/>
              </a:rPr>
              <a:t>講者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457200" y="32004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§05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1097280" y="22860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預期困難與應對策略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57200" y="914400"/>
            <a:ext cx="2743200" cy="82296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548640" y="9601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N=132 偏小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48640" y="12801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132 obs 配 5 IV + 22 dummies，自由度偏緊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3246120" y="91440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3657600" y="914400"/>
            <a:ext cx="5029200" cy="82296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3794760" y="91440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Lasso/RF 定位為「探索性」；未來擴展至新北 10 區（N→242）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457200" y="1874520"/>
            <a:ext cx="2743200" cy="82296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548640" y="19202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IV_elder 方向悖論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48640" y="224028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Raw r=+0.72 與假說相反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3246120" y="187452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4"/>
          <p:cNvSpPr/>
          <p:nvPr/>
        </p:nvSpPr>
        <p:spPr>
          <a:xfrm>
            <a:off x="3657600" y="1874520"/>
            <a:ext cx="5029200" cy="82296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>
            <a:off x="3794760" y="187452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§4.5 已分析 between vs within 分解；無論結果都是有價值的發現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457200" y="2834640"/>
            <a:ext cx="2743200" cy="82296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548640" y="2880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IV_edu within 變動小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548640" y="32004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教育程度在 11 年內變化緩慢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3246120" y="283464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3657600" y="2834640"/>
            <a:ext cx="5029200" cy="82296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3794760" y="283464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如 Lasso drop → 寫「within-district variation 不足」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457200" y="3794760"/>
            <a:ext cx="2743200" cy="82296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548640" y="38404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殘差非嚴格常態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548640" y="4160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SW p=0.008（kurtosis=1.55）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3246120" y="3794760"/>
            <a:ext cx="365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3657600" y="3794760"/>
            <a:ext cx="5029200" cy="822960"/>
          </a:xfrm>
          <a:prstGeom prst="rect">
            <a:avLst/>
          </a:prstGeom>
          <a:solidFill>
            <a:srgbClr val="F0FDFA"/>
          </a:solidFill>
          <a:ln cap="flat" cmpd="sng" w="9525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4"/>
          <p:cNvSpPr/>
          <p:nvPr/>
        </p:nvSpPr>
        <p:spPr>
          <a:xfrm>
            <a:off x="3794760" y="3794760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4E4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34E4A"/>
                </a:solidFill>
                <a:latin typeface="Calibri"/>
                <a:ea typeface="Calibri"/>
                <a:cs typeface="Calibri"/>
                <a:sym typeface="Calibri"/>
              </a:rPr>
              <a:t>使用 Robust SE (HC1)；引用 CLT 在 N=132 的漸近性質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DCFCE7"/>
          </a:solidFill>
          <a:ln cap="flat" cmpd="sng" w="9525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594360" y="457200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下一步：執行 master_pipeline.py → FE OLS + Lasso + RF → K-means 分群 → 12 區寵物市場區隔地圖 → 商業建議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5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C0392B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 &amp; 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877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E8877E"/>
                </a:solidFill>
                <a:latin typeface="Calibri"/>
                <a:ea typeface="Calibri"/>
                <a:cs typeface="Calibri"/>
                <a:sym typeface="Calibri"/>
              </a:rPr>
              <a:t>謝謝聆聽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070A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070A0"/>
                </a:solidFill>
                <a:latin typeface="Calibri"/>
                <a:ea typeface="Calibri"/>
                <a:cs typeface="Calibri"/>
                <a:sym typeface="Calibri"/>
              </a:rPr>
              <a:t>台北市貓犬比 Panel Data 期中報告 ｜ 2026-04-05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2026-04-05T14:06:36Z</dcterms:created>
  <dc:creator>Danni</dc:creator>
</cp:coreProperties>
</file>